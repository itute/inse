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CDB6-0685-4C9D-8779-FB106CC1961C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BEF9-89F9-4DA4-A61A-D6F4AF17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092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CDB6-0685-4C9D-8779-FB106CC1961C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BEF9-89F9-4DA4-A61A-D6F4AF17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705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CDB6-0685-4C9D-8779-FB106CC1961C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BEF9-89F9-4DA4-A61A-D6F4AF17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660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CDB6-0685-4C9D-8779-FB106CC1961C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BEF9-89F9-4DA4-A61A-D6F4AF17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798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CDB6-0685-4C9D-8779-FB106CC1961C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BEF9-89F9-4DA4-A61A-D6F4AF17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586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CDB6-0685-4C9D-8779-FB106CC1961C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BEF9-89F9-4DA4-A61A-D6F4AF17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424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CDB6-0685-4C9D-8779-FB106CC1961C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BEF9-89F9-4DA4-A61A-D6F4AF17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81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CDB6-0685-4C9D-8779-FB106CC1961C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BEF9-89F9-4DA4-A61A-D6F4AF17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18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CDB6-0685-4C9D-8779-FB106CC1961C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BEF9-89F9-4DA4-A61A-D6F4AF17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877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CDB6-0685-4C9D-8779-FB106CC1961C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BEF9-89F9-4DA4-A61A-D6F4AF17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460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CDB6-0685-4C9D-8779-FB106CC1961C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BEF9-89F9-4DA4-A61A-D6F4AF17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348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A1CDB6-0685-4C9D-8779-FB106CC1961C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5BEF9-89F9-4DA4-A61A-D6F4AF179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694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>Scanning Networks</a:t>
            </a:r>
            <a:endParaRPr 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2863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spcBef>
                <a:spcPts val="120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en-US" dirty="0" smtClean="0"/>
              <a:t>Introduction </a:t>
            </a:r>
          </a:p>
          <a:p>
            <a:pPr marL="514350" indent="-514350">
              <a:spcBef>
                <a:spcPts val="120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en-US" dirty="0" smtClean="0"/>
              <a:t>Scanning methodology</a:t>
            </a:r>
          </a:p>
          <a:p>
            <a:pPr marL="514350" indent="-514350">
              <a:spcBef>
                <a:spcPts val="120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en-US" dirty="0" smtClean="0"/>
              <a:t>Checking for Live systems</a:t>
            </a:r>
          </a:p>
          <a:p>
            <a:pPr marL="514350" indent="-514350">
              <a:spcBef>
                <a:spcPts val="120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en-US" dirty="0" smtClean="0"/>
              <a:t>Scanning techniques</a:t>
            </a:r>
            <a:endParaRPr lang="en-US" dirty="0"/>
          </a:p>
          <a:p>
            <a:pPr marL="514350" indent="-514350">
              <a:spcBef>
                <a:spcPts val="120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en-US" dirty="0" smtClean="0"/>
              <a:t>Scanning countermeasures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152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>Introduction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5268" y="606425"/>
            <a:ext cx="6676696" cy="3051175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 smtClean="0"/>
              <a:t>Network scanning refers to a set of procedures </a:t>
            </a:r>
            <a:r>
              <a:rPr lang="en-US" dirty="0" smtClean="0">
                <a:solidFill>
                  <a:srgbClr val="FF0000"/>
                </a:solidFill>
              </a:rPr>
              <a:t>for identifying hosts, ports</a:t>
            </a:r>
            <a:r>
              <a:rPr lang="en-US" dirty="0" smtClean="0"/>
              <a:t>, and </a:t>
            </a:r>
            <a:r>
              <a:rPr lang="en-US" dirty="0" smtClean="0">
                <a:solidFill>
                  <a:srgbClr val="FF0000"/>
                </a:solidFill>
              </a:rPr>
              <a:t>services</a:t>
            </a:r>
            <a:r>
              <a:rPr lang="en-US" dirty="0" smtClean="0"/>
              <a:t> in a network.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 smtClean="0"/>
              <a:t>Network scanning is one of the </a:t>
            </a:r>
            <a:r>
              <a:rPr lang="en-US" dirty="0" smtClean="0">
                <a:solidFill>
                  <a:srgbClr val="FF0000"/>
                </a:solidFill>
              </a:rPr>
              <a:t>components </a:t>
            </a:r>
            <a:r>
              <a:rPr lang="en-US" dirty="0" smtClean="0"/>
              <a:t>of intelligence </a:t>
            </a:r>
            <a:r>
              <a:rPr lang="en-US" dirty="0" smtClean="0">
                <a:solidFill>
                  <a:srgbClr val="FF0000"/>
                </a:solidFill>
              </a:rPr>
              <a:t>gathering</a:t>
            </a:r>
            <a:r>
              <a:rPr lang="en-US" dirty="0" smtClean="0"/>
              <a:t> an attacker uses to create a profile of the target organization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66" y="1825625"/>
            <a:ext cx="4314825" cy="19335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890396" y="5228429"/>
            <a:ext cx="3178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Objectives of network scanning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4497" y="4520543"/>
            <a:ext cx="6917856" cy="17851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AutoNum type="arabicParenBoth"/>
            </a:pPr>
            <a:r>
              <a:rPr lang="en-US" sz="2000" dirty="0" smtClean="0"/>
              <a:t>To discover </a:t>
            </a:r>
            <a:r>
              <a:rPr lang="en-US" sz="2000" dirty="0" smtClean="0">
                <a:solidFill>
                  <a:srgbClr val="7030A0"/>
                </a:solidFill>
              </a:rPr>
              <a:t>live hosts</a:t>
            </a:r>
            <a:r>
              <a:rPr lang="en-US" sz="2000" dirty="0" smtClean="0"/>
              <a:t>, </a:t>
            </a:r>
            <a:r>
              <a:rPr lang="en-US" sz="2000" dirty="0" smtClean="0">
                <a:solidFill>
                  <a:srgbClr val="7030A0"/>
                </a:solidFill>
              </a:rPr>
              <a:t>IP address</a:t>
            </a:r>
            <a:r>
              <a:rPr lang="en-US" sz="2000" dirty="0" smtClean="0"/>
              <a:t>, and </a:t>
            </a:r>
            <a:r>
              <a:rPr lang="en-US" sz="2000" dirty="0" smtClean="0">
                <a:solidFill>
                  <a:srgbClr val="7030A0"/>
                </a:solidFill>
              </a:rPr>
              <a:t>open ports </a:t>
            </a:r>
            <a:r>
              <a:rPr lang="en-US" sz="2000" dirty="0" smtClean="0"/>
              <a:t>of live hosts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AutoNum type="arabicParenBoth"/>
            </a:pPr>
            <a:r>
              <a:rPr lang="en-US" sz="2000" dirty="0" smtClean="0"/>
              <a:t>To discover </a:t>
            </a:r>
            <a:r>
              <a:rPr lang="en-US" sz="2000" dirty="0" smtClean="0">
                <a:solidFill>
                  <a:srgbClr val="7030A0"/>
                </a:solidFill>
              </a:rPr>
              <a:t>operating systems </a:t>
            </a:r>
            <a:r>
              <a:rPr lang="en-US" sz="2000" dirty="0" smtClean="0"/>
              <a:t>and system </a:t>
            </a:r>
            <a:r>
              <a:rPr lang="en-US" sz="2000" dirty="0" smtClean="0">
                <a:solidFill>
                  <a:srgbClr val="7030A0"/>
                </a:solidFill>
              </a:rPr>
              <a:t>architecture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AutoNum type="arabicParenBoth"/>
            </a:pPr>
            <a:r>
              <a:rPr lang="en-US" sz="2000" dirty="0" smtClean="0"/>
              <a:t>To discover </a:t>
            </a:r>
            <a:r>
              <a:rPr lang="en-US" sz="2000" dirty="0" smtClean="0">
                <a:solidFill>
                  <a:srgbClr val="7030A0"/>
                </a:solidFill>
              </a:rPr>
              <a:t>services </a:t>
            </a:r>
            <a:r>
              <a:rPr lang="en-US" sz="2000" dirty="0" smtClean="0"/>
              <a:t>running on hosts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AutoNum type="arabicParenBoth"/>
            </a:pPr>
            <a:r>
              <a:rPr lang="en-US" sz="2000" dirty="0" smtClean="0"/>
              <a:t>To discover </a:t>
            </a:r>
            <a:r>
              <a:rPr lang="en-US" sz="2000" dirty="0" smtClean="0">
                <a:solidFill>
                  <a:srgbClr val="7030A0"/>
                </a:solidFill>
              </a:rPr>
              <a:t>vulnerabilities</a:t>
            </a:r>
            <a:r>
              <a:rPr lang="en-US" sz="2000" dirty="0" smtClean="0"/>
              <a:t> in live hosts</a:t>
            </a:r>
            <a:endParaRPr lang="en-US" sz="2000" dirty="0"/>
          </a:p>
        </p:txBody>
      </p:sp>
      <p:sp>
        <p:nvSpPr>
          <p:cNvPr id="7" name="Right Brace 6"/>
          <p:cNvSpPr/>
          <p:nvPr/>
        </p:nvSpPr>
        <p:spPr>
          <a:xfrm>
            <a:off x="7262994" y="4428893"/>
            <a:ext cx="893380" cy="1876754"/>
          </a:xfrm>
          <a:prstGeom prst="rightBrac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54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Scanning  methodology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spcAft>
                <a:spcPts val="600"/>
              </a:spcAft>
              <a:buFont typeface="+mj-lt"/>
              <a:buAutoNum type="arabicParenR"/>
            </a:pPr>
            <a:r>
              <a:rPr lang="en-US" sz="2400" dirty="0" smtClean="0"/>
              <a:t>Check for </a:t>
            </a:r>
            <a:r>
              <a:rPr lang="en-US" sz="2400" b="1" dirty="0" smtClean="0"/>
              <a:t>live systems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arenR"/>
            </a:pPr>
            <a:r>
              <a:rPr lang="en-US" sz="2400" dirty="0" smtClean="0"/>
              <a:t>Check for </a:t>
            </a:r>
            <a:r>
              <a:rPr lang="en-US" sz="2400" b="1" dirty="0" smtClean="0"/>
              <a:t>open ports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arenR"/>
            </a:pPr>
            <a:r>
              <a:rPr lang="en-US" sz="2400" dirty="0" smtClean="0"/>
              <a:t>Scanning beyond IDS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arenR"/>
            </a:pPr>
            <a:r>
              <a:rPr lang="en-US" sz="2400" dirty="0" smtClean="0"/>
              <a:t>Banner grabbing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arenR"/>
            </a:pPr>
            <a:r>
              <a:rPr lang="en-US" sz="2400" dirty="0" smtClean="0"/>
              <a:t>Scanning for </a:t>
            </a:r>
            <a:r>
              <a:rPr lang="en-US" sz="2400" b="1" dirty="0" smtClean="0"/>
              <a:t>vulnerabilities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arenR"/>
            </a:pPr>
            <a:r>
              <a:rPr lang="en-US" sz="2400" dirty="0" smtClean="0"/>
              <a:t>Draw network diagrams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arenR"/>
            </a:pPr>
            <a:r>
              <a:rPr lang="en-US" sz="2400" dirty="0" smtClean="0"/>
              <a:t>Prepare proxies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arenR"/>
            </a:pPr>
            <a:r>
              <a:rPr lang="en-US" sz="2400" dirty="0" smtClean="0"/>
              <a:t>Scanning </a:t>
            </a:r>
            <a:r>
              <a:rPr lang="en-US" sz="2400" dirty="0"/>
              <a:t>P</a:t>
            </a:r>
            <a:r>
              <a:rPr lang="en-US" sz="2400" dirty="0" smtClean="0"/>
              <a:t>en Testing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084892" y="1828800"/>
            <a:ext cx="2514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Check for live systems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084892" y="2895600"/>
            <a:ext cx="2514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Check for open ports</a:t>
            </a: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084892" y="3962400"/>
            <a:ext cx="2514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Identify services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084892" y="4994787"/>
            <a:ext cx="2514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Banner Grabbing/OS fingerprinting</a:t>
            </a: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894892" y="1828800"/>
            <a:ext cx="2514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Scan for vulnerability</a:t>
            </a: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860479" y="2858729"/>
            <a:ext cx="2514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Draw network diagrams of vulnerabilities hosts</a:t>
            </a: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860479" y="3962400"/>
            <a:ext cx="2514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Prepare proxies</a:t>
            </a:r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6342192" y="25146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6342192" y="35814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6368002" y="4613787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7" idx="3"/>
            <a:endCxn id="8" idx="1"/>
          </p:cNvCxnSpPr>
          <p:nvPr/>
        </p:nvCxnSpPr>
        <p:spPr>
          <a:xfrm flipV="1">
            <a:off x="7599492" y="2171700"/>
            <a:ext cx="1295400" cy="316598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10117779" y="25146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0128840" y="3564193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0095656" y="46482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ight Arrow 17"/>
          <p:cNvSpPr/>
          <p:nvPr/>
        </p:nvSpPr>
        <p:spPr>
          <a:xfrm>
            <a:off x="9275892" y="4746522"/>
            <a:ext cx="2819400" cy="1447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smtClean="0"/>
              <a:t>Attack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2225090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Check for live systems </a:t>
            </a:r>
            <a:r>
              <a:rPr lang="en-US" dirty="0" smtClean="0"/>
              <a:t>– </a:t>
            </a:r>
            <a:r>
              <a:rPr lang="en-US" dirty="0" smtClean="0">
                <a:solidFill>
                  <a:srgbClr val="FF0000"/>
                </a:solidFill>
              </a:rPr>
              <a:t>ICMP Scanning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497" y="3659077"/>
            <a:ext cx="7023538" cy="222146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lang="en-US" dirty="0" smtClean="0"/>
              <a:t>Ping scan involves sending </a:t>
            </a:r>
            <a:r>
              <a:rPr lang="en-US" dirty="0" smtClean="0">
                <a:solidFill>
                  <a:srgbClr val="FF0000"/>
                </a:solidFill>
              </a:rPr>
              <a:t>ICMP echo requests </a:t>
            </a:r>
            <a:r>
              <a:rPr lang="en-US" dirty="0" smtClean="0"/>
              <a:t>to a host. If the host is live, it will return an </a:t>
            </a:r>
            <a:r>
              <a:rPr lang="en-US" dirty="0" smtClean="0">
                <a:solidFill>
                  <a:srgbClr val="FF0000"/>
                </a:solidFill>
              </a:rPr>
              <a:t>ICMP echo reply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lang="en-US" dirty="0" smtClean="0"/>
              <a:t>This scan is useful for </a:t>
            </a:r>
            <a:r>
              <a:rPr lang="en-US" dirty="0" smtClean="0">
                <a:solidFill>
                  <a:srgbClr val="FF0000"/>
                </a:solidFill>
              </a:rPr>
              <a:t>locating active devices </a:t>
            </a:r>
            <a:r>
              <a:rPr lang="en-US" dirty="0" smtClean="0"/>
              <a:t>or determining if ICMP is passing through a firewall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lang="en-US" dirty="0" smtClean="0">
                <a:solidFill>
                  <a:srgbClr val="FF0000"/>
                </a:solidFill>
              </a:rPr>
              <a:t>Tools: </a:t>
            </a:r>
            <a:r>
              <a:rPr lang="en-US" dirty="0" err="1" smtClean="0">
                <a:solidFill>
                  <a:srgbClr val="002060"/>
                </a:solidFill>
              </a:rPr>
              <a:t>Nmap</a:t>
            </a:r>
            <a:r>
              <a:rPr lang="en-US" dirty="0" smtClean="0">
                <a:solidFill>
                  <a:srgbClr val="002060"/>
                </a:solidFill>
              </a:rPr>
              <a:t>, Angry, IP Scanner, </a:t>
            </a:r>
            <a:r>
              <a:rPr lang="en-US" dirty="0" err="1" smtClean="0">
                <a:solidFill>
                  <a:srgbClr val="002060"/>
                </a:solidFill>
              </a:rPr>
              <a:t>SolarWinds</a:t>
            </a:r>
            <a:r>
              <a:rPr lang="en-US" dirty="0" smtClean="0">
                <a:solidFill>
                  <a:srgbClr val="002060"/>
                </a:solidFill>
              </a:rPr>
              <a:t>, Ping Scanning Pro,…</a:t>
            </a:r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31" y="2022420"/>
            <a:ext cx="7160172" cy="13049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469" y="2022420"/>
            <a:ext cx="4348325" cy="356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250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275" y="249511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Check for open ports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275" y="1690688"/>
            <a:ext cx="7443952" cy="435133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 smtClean="0">
                <a:solidFill>
                  <a:srgbClr val="002060"/>
                </a:solidFill>
              </a:rPr>
              <a:t>Three-way handshake</a:t>
            </a:r>
            <a:r>
              <a:rPr lang="en-US" dirty="0" smtClean="0"/>
              <a:t>: </a:t>
            </a:r>
            <a:r>
              <a:rPr lang="en-US" sz="2400" dirty="0" smtClean="0"/>
              <a:t>TCP uses a </a:t>
            </a:r>
            <a:r>
              <a:rPr lang="en-US" sz="2400" dirty="0" smtClean="0">
                <a:solidFill>
                  <a:srgbClr val="FF0000"/>
                </a:solidFill>
              </a:rPr>
              <a:t>3-way handshake </a:t>
            </a:r>
            <a:r>
              <a:rPr lang="en-US" sz="2400" dirty="0" smtClean="0"/>
              <a:t>to establish a connection between server and client</a:t>
            </a:r>
          </a:p>
          <a:p>
            <a:pPr>
              <a:spcBef>
                <a:spcPts val="1200"/>
              </a:spcBef>
            </a:pPr>
            <a:r>
              <a:rPr lang="en-US" sz="2400" dirty="0" smtClean="0"/>
              <a:t>TCP connect scan detects when a port is open by completing the </a:t>
            </a:r>
            <a:r>
              <a:rPr lang="en-US" sz="2400" dirty="0" smtClean="0">
                <a:solidFill>
                  <a:srgbClr val="002060"/>
                </a:solidFill>
              </a:rPr>
              <a:t>3-way handshake</a:t>
            </a:r>
          </a:p>
          <a:p>
            <a:pPr>
              <a:spcBef>
                <a:spcPts val="1200"/>
              </a:spcBef>
            </a:pPr>
            <a:r>
              <a:rPr lang="en-US" sz="2400" dirty="0" smtClean="0"/>
              <a:t>TCP connect scan </a:t>
            </a:r>
            <a:r>
              <a:rPr lang="en-US" sz="2400" dirty="0" smtClean="0">
                <a:solidFill>
                  <a:srgbClr val="FF0000"/>
                </a:solidFill>
              </a:rPr>
              <a:t>establishes a full connection </a:t>
            </a:r>
            <a:r>
              <a:rPr lang="en-US" sz="2400" dirty="0" smtClean="0"/>
              <a:t>and tears it down by sending RST packet	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5870" y="1690688"/>
            <a:ext cx="3175931" cy="436995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07275" y="5857360"/>
            <a:ext cx="20043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Tools: </a:t>
            </a:r>
            <a:r>
              <a:rPr lang="en-US" dirty="0" err="1" smtClean="0"/>
              <a:t>Nmap</a:t>
            </a:r>
            <a:r>
              <a:rPr lang="en-US" dirty="0" smtClean="0"/>
              <a:t>, </a:t>
            </a:r>
            <a:r>
              <a:rPr lang="en-US" dirty="0" err="1" smtClean="0"/>
              <a:t>Hping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191" y="4157993"/>
            <a:ext cx="3643343" cy="158375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251" y="4157993"/>
            <a:ext cx="3721976" cy="157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030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07275" y="249511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Check for open ports (cont.) – </a:t>
            </a:r>
            <a:r>
              <a:rPr lang="en-US" dirty="0" smtClean="0">
                <a:solidFill>
                  <a:srgbClr val="FF0000"/>
                </a:solidFill>
              </a:rPr>
              <a:t>UDP Scanning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891" y="1988631"/>
            <a:ext cx="10020300" cy="15906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61" y="3797030"/>
            <a:ext cx="4657725" cy="19335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8041" y="3797030"/>
            <a:ext cx="4695825" cy="21717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04876" y="6071617"/>
            <a:ext cx="56203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Tools: </a:t>
            </a:r>
            <a:r>
              <a:rPr lang="en-US" dirty="0" err="1" smtClean="0">
                <a:solidFill>
                  <a:srgbClr val="002060"/>
                </a:solidFill>
              </a:rPr>
              <a:t>Nmap</a:t>
            </a:r>
            <a:r>
              <a:rPr lang="en-US" dirty="0" smtClean="0">
                <a:solidFill>
                  <a:srgbClr val="002060"/>
                </a:solidFill>
              </a:rPr>
              <a:t>, </a:t>
            </a:r>
            <a:r>
              <a:rPr lang="en-US" dirty="0" err="1" smtClean="0">
                <a:solidFill>
                  <a:srgbClr val="002060"/>
                </a:solidFill>
              </a:rPr>
              <a:t>NetScan</a:t>
            </a:r>
            <a:r>
              <a:rPr lang="en-US" dirty="0" smtClean="0">
                <a:solidFill>
                  <a:srgbClr val="002060"/>
                </a:solidFill>
              </a:rPr>
              <a:t> Tools Pro, Advanced Port Scanner,…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190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Port Scanning </a:t>
            </a:r>
            <a:r>
              <a:rPr lang="en-US" dirty="0" smtClean="0">
                <a:solidFill>
                  <a:srgbClr val="FF0000"/>
                </a:solidFill>
              </a:rPr>
              <a:t>Countermeasures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Configure firewall, IDS rules: </a:t>
            </a:r>
            <a:r>
              <a:rPr lang="en-US" dirty="0" smtClean="0">
                <a:solidFill>
                  <a:srgbClr val="7030A0"/>
                </a:solidFill>
              </a:rPr>
              <a:t>block unwanted ports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Hide sensitive information</a:t>
            </a:r>
            <a:r>
              <a:rPr lang="en-US" dirty="0" smtClean="0"/>
              <a:t> from public view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Ensure</a:t>
            </a:r>
            <a:r>
              <a:rPr lang="en-US" dirty="0" smtClean="0"/>
              <a:t> that mechanism used for </a:t>
            </a:r>
            <a:r>
              <a:rPr lang="en-US" dirty="0" smtClean="0">
                <a:solidFill>
                  <a:srgbClr val="7030A0"/>
                </a:solidFill>
              </a:rPr>
              <a:t>routing &amp; filtering </a:t>
            </a:r>
            <a:r>
              <a:rPr lang="en-US" dirty="0" smtClean="0"/>
              <a:t>at routers, firewalls </a:t>
            </a:r>
            <a:r>
              <a:rPr lang="en-US" dirty="0" smtClean="0">
                <a:solidFill>
                  <a:srgbClr val="7030A0"/>
                </a:solidFill>
              </a:rPr>
              <a:t>cannot be bypassed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894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Scanning beyond IDS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IDS evasion techniques</a:t>
            </a:r>
          </a:p>
          <a:p>
            <a:pPr lvl="1"/>
            <a:r>
              <a:rPr lang="en-US" dirty="0" smtClean="0"/>
              <a:t>Use fragmented IP packets</a:t>
            </a:r>
          </a:p>
          <a:p>
            <a:pPr lvl="1"/>
            <a:r>
              <a:rPr lang="en-US" dirty="0" smtClean="0"/>
              <a:t>Use source routing</a:t>
            </a:r>
          </a:p>
          <a:p>
            <a:pPr lvl="1"/>
            <a:r>
              <a:rPr lang="en-US" dirty="0" smtClean="0"/>
              <a:t>Spoof IP address</a:t>
            </a:r>
          </a:p>
          <a:p>
            <a:pPr lvl="1"/>
            <a:r>
              <a:rPr lang="en-US" dirty="0" smtClean="0"/>
              <a:t>Proxy servers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986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Banner Grabbing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dirty="0" smtClean="0"/>
              <a:t>Banner grabbing or OS fingerprinting is the method to determine the </a:t>
            </a:r>
            <a:r>
              <a:rPr lang="en-US" dirty="0" smtClean="0">
                <a:solidFill>
                  <a:srgbClr val="FF0000"/>
                </a:solidFill>
              </a:rPr>
              <a:t>operating system </a:t>
            </a:r>
            <a:r>
              <a:rPr lang="en-US" dirty="0" smtClean="0"/>
              <a:t>running on a remote target system. There are two types of banner grabbing: </a:t>
            </a:r>
            <a:r>
              <a:rPr lang="en-US" u="sng" dirty="0" smtClean="0"/>
              <a:t>active</a:t>
            </a:r>
            <a:r>
              <a:rPr lang="en-US" dirty="0" smtClean="0"/>
              <a:t> and </a:t>
            </a:r>
            <a:r>
              <a:rPr lang="en-US" u="sng" dirty="0" smtClean="0"/>
              <a:t>passive</a:t>
            </a:r>
          </a:p>
          <a:p>
            <a:pPr>
              <a:spcAft>
                <a:spcPts val="1200"/>
              </a:spcAft>
            </a:pPr>
            <a:r>
              <a:rPr lang="en-US" dirty="0" smtClean="0"/>
              <a:t>Identifying the OS used on the target host allows an attacker to </a:t>
            </a:r>
            <a:r>
              <a:rPr lang="en-US" dirty="0" smtClean="0">
                <a:solidFill>
                  <a:srgbClr val="FF0000"/>
                </a:solidFill>
              </a:rPr>
              <a:t>figure out the vulnerabilities the system poses </a:t>
            </a:r>
            <a:r>
              <a:rPr lang="en-US" dirty="0" smtClean="0"/>
              <a:t>and the exploits that might work on a system to further </a:t>
            </a:r>
            <a:r>
              <a:rPr lang="en-US" dirty="0" smtClean="0">
                <a:solidFill>
                  <a:srgbClr val="FF0000"/>
                </a:solidFill>
              </a:rPr>
              <a:t>carry out additional attacks</a:t>
            </a:r>
          </a:p>
          <a:p>
            <a:pPr>
              <a:spcAft>
                <a:spcPts val="1200"/>
              </a:spcAft>
            </a:pPr>
            <a:r>
              <a:rPr lang="en-US" dirty="0" smtClean="0">
                <a:solidFill>
                  <a:srgbClr val="FF0000"/>
                </a:solidFill>
              </a:rPr>
              <a:t>Tools: ID Serve</a:t>
            </a:r>
            <a:r>
              <a:rPr lang="en-US" smtClean="0">
                <a:solidFill>
                  <a:srgbClr val="FF0000"/>
                </a:solidFill>
              </a:rPr>
              <a:t>, Netcraft</a:t>
            </a:r>
            <a:r>
              <a:rPr lang="en-US" dirty="0">
                <a:solidFill>
                  <a:srgbClr val="FF0000"/>
                </a:solidFill>
              </a:rPr>
              <a:t>,</a:t>
            </a:r>
            <a:r>
              <a:rPr lang="en-US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Netcat</a:t>
            </a:r>
            <a:r>
              <a:rPr lang="en-US" dirty="0" smtClean="0"/>
              <a:t>	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71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Banner Grabbing Countermeasures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Display </a:t>
            </a:r>
            <a:r>
              <a:rPr lang="en-US" dirty="0" smtClean="0">
                <a:solidFill>
                  <a:srgbClr val="002060"/>
                </a:solidFill>
              </a:rPr>
              <a:t>false banners </a:t>
            </a:r>
            <a:r>
              <a:rPr lang="en-US" dirty="0" smtClean="0"/>
              <a:t>to misguide the attackers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Turn off unnecessary services </a:t>
            </a:r>
            <a:r>
              <a:rPr lang="en-US" dirty="0" smtClean="0"/>
              <a:t>on the network host to limit the information disclosure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415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Vulnerability Scanning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Vulnerability scanning identifies </a:t>
            </a:r>
            <a:r>
              <a:rPr lang="en-US" dirty="0" smtClean="0">
                <a:solidFill>
                  <a:srgbClr val="FF0000"/>
                </a:solidFill>
              </a:rPr>
              <a:t>vulnerabilities and weaknesses </a:t>
            </a:r>
            <a:r>
              <a:rPr lang="en-US" dirty="0" smtClean="0"/>
              <a:t>of a system and network in order to determine how a system can be exploited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Network topology and OS vulnerabilities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Application and services vulnerabilities</a:t>
            </a:r>
          </a:p>
          <a:p>
            <a:pPr marL="457200" lvl="1" indent="0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Tools: SAINT, OpenVAS, </a:t>
            </a:r>
            <a:r>
              <a:rPr lang="en-US" dirty="0" err="1" smtClean="0"/>
              <a:t>Nexpose</a:t>
            </a:r>
            <a:r>
              <a:rPr lang="en-US" dirty="0" smtClean="0"/>
              <a:t>, Retina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692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Draw </a:t>
            </a:r>
            <a:r>
              <a:rPr lang="en-US" dirty="0" smtClean="0">
                <a:solidFill>
                  <a:srgbClr val="002060"/>
                </a:solidFill>
              </a:rPr>
              <a:t>network diagrams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Drawing target's network diagram gives valuable information about the </a:t>
            </a:r>
            <a:r>
              <a:rPr lang="en-US" dirty="0" smtClean="0">
                <a:solidFill>
                  <a:srgbClr val="FF0000"/>
                </a:solidFill>
              </a:rPr>
              <a:t>network and its architecture </a:t>
            </a:r>
            <a:r>
              <a:rPr lang="en-US" dirty="0" smtClean="0"/>
              <a:t>to an attacker</a:t>
            </a:r>
          </a:p>
          <a:p>
            <a:r>
              <a:rPr lang="en-US" dirty="0" smtClean="0"/>
              <a:t>Network diagram shows </a:t>
            </a:r>
            <a:r>
              <a:rPr lang="en-US" dirty="0" smtClean="0">
                <a:solidFill>
                  <a:srgbClr val="FF0000"/>
                </a:solidFill>
              </a:rPr>
              <a:t>logical or physical path</a:t>
            </a:r>
            <a:r>
              <a:rPr lang="en-US" dirty="0" smtClean="0"/>
              <a:t> to a potential target</a:t>
            </a:r>
          </a:p>
          <a:p>
            <a:r>
              <a:rPr lang="en-US" dirty="0" smtClean="0"/>
              <a:t>Tools: Network View,…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897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Prepare proxies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 proxy is a network computer that can </a:t>
            </a:r>
            <a:r>
              <a:rPr lang="en-US" dirty="0" smtClean="0">
                <a:solidFill>
                  <a:srgbClr val="FF0000"/>
                </a:solidFill>
              </a:rPr>
              <a:t>serve as an intermediary</a:t>
            </a:r>
            <a:r>
              <a:rPr lang="en-US" dirty="0" smtClean="0"/>
              <a:t> for connecting with other computers</a:t>
            </a:r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Proxy chaining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Tools: </a:t>
            </a:r>
            <a:r>
              <a:rPr lang="en-US" dirty="0" err="1" smtClean="0"/>
              <a:t>ezProxy</a:t>
            </a:r>
            <a:r>
              <a:rPr lang="en-US" dirty="0" smtClean="0"/>
              <a:t>,…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890" y="2420393"/>
            <a:ext cx="5267325" cy="1828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063" y="4372882"/>
            <a:ext cx="7492152" cy="215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091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Scanning Pen Testing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dirty="0" smtClean="0"/>
              <a:t>Pen testing a network for scanning vulnerabilities determines the network’s security posture by identifying </a:t>
            </a:r>
            <a:r>
              <a:rPr lang="en-US" sz="2400" dirty="0" smtClean="0">
                <a:solidFill>
                  <a:srgbClr val="FF0000"/>
                </a:solidFill>
              </a:rPr>
              <a:t>live systems</a:t>
            </a:r>
            <a:r>
              <a:rPr lang="en-US" sz="2400" dirty="0" smtClean="0"/>
              <a:t>, discovering </a:t>
            </a:r>
            <a:r>
              <a:rPr lang="en-US" sz="2400" dirty="0" smtClean="0">
                <a:solidFill>
                  <a:srgbClr val="FF0000"/>
                </a:solidFill>
              </a:rPr>
              <a:t>open ports</a:t>
            </a:r>
            <a:r>
              <a:rPr lang="en-US" sz="2400" dirty="0" smtClean="0"/>
              <a:t>, associating </a:t>
            </a:r>
            <a:r>
              <a:rPr lang="en-US" sz="2400" dirty="0" smtClean="0">
                <a:solidFill>
                  <a:srgbClr val="FF0000"/>
                </a:solidFill>
              </a:rPr>
              <a:t>services </a:t>
            </a:r>
            <a:r>
              <a:rPr lang="en-US" sz="2400" dirty="0" smtClean="0"/>
              <a:t>and grabbing </a:t>
            </a:r>
            <a:r>
              <a:rPr lang="en-US" sz="2400" dirty="0" smtClean="0">
                <a:solidFill>
                  <a:srgbClr val="FF0000"/>
                </a:solidFill>
              </a:rPr>
              <a:t>system banners </a:t>
            </a:r>
            <a:r>
              <a:rPr lang="en-US" sz="2400" dirty="0" smtClean="0"/>
              <a:t>to simulate a network hacking attempt</a:t>
            </a:r>
          </a:p>
          <a:p>
            <a:pPr>
              <a:spcAft>
                <a:spcPts val="600"/>
              </a:spcAft>
            </a:pPr>
            <a:r>
              <a:rPr lang="en-US" sz="2400" dirty="0" smtClean="0"/>
              <a:t>The penetration testing report will help </a:t>
            </a:r>
            <a:r>
              <a:rPr lang="en-US" sz="2400" dirty="0" smtClean="0">
                <a:solidFill>
                  <a:srgbClr val="FF0000"/>
                </a:solidFill>
              </a:rPr>
              <a:t>system administrators </a:t>
            </a:r>
            <a:r>
              <a:rPr lang="en-US" sz="2400" dirty="0" smtClean="0"/>
              <a:t>to: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989" y="3992987"/>
            <a:ext cx="5905335" cy="262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373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Scanning Pen Testing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286" y="1435975"/>
            <a:ext cx="5362575" cy="5295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369" y="1836026"/>
            <a:ext cx="4781550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199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Summary 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spcAft>
                <a:spcPts val="600"/>
              </a:spcAft>
            </a:pPr>
            <a:r>
              <a:rPr lang="en-US" b="1" dirty="0" smtClean="0"/>
              <a:t>The objective of scanning </a:t>
            </a:r>
            <a:r>
              <a:rPr lang="en-US" dirty="0" smtClean="0"/>
              <a:t>is to discover </a:t>
            </a:r>
            <a:r>
              <a:rPr lang="en-US" dirty="0" smtClean="0">
                <a:solidFill>
                  <a:srgbClr val="FF0000"/>
                </a:solidFill>
              </a:rPr>
              <a:t>live systems, active/running ports, the operating systems, and the services </a:t>
            </a:r>
            <a:r>
              <a:rPr lang="en-US" dirty="0" smtClean="0"/>
              <a:t>running on the network </a:t>
            </a:r>
          </a:p>
          <a:p>
            <a:pPr>
              <a:spcAft>
                <a:spcPts val="600"/>
              </a:spcAft>
            </a:pPr>
            <a:r>
              <a:rPr lang="en-US" dirty="0" smtClean="0"/>
              <a:t>Attacker determines the </a:t>
            </a:r>
            <a:r>
              <a:rPr lang="en-US" dirty="0" smtClean="0">
                <a:solidFill>
                  <a:srgbClr val="FF0000"/>
                </a:solidFill>
              </a:rPr>
              <a:t>live hosts </a:t>
            </a:r>
            <a:r>
              <a:rPr lang="en-US" dirty="0" smtClean="0"/>
              <a:t>from a range of IP addresses by sending ICMP ECHO requests to multiple hosts </a:t>
            </a:r>
          </a:p>
          <a:p>
            <a:pPr>
              <a:spcAft>
                <a:spcPts val="600"/>
              </a:spcAft>
            </a:pPr>
            <a:r>
              <a:rPr lang="en-US" dirty="0" smtClean="0"/>
              <a:t>Attackers use various scanning techniques to </a:t>
            </a:r>
            <a:r>
              <a:rPr lang="en-US" dirty="0" smtClean="0">
                <a:solidFill>
                  <a:srgbClr val="FF0000"/>
                </a:solidFill>
              </a:rPr>
              <a:t>bypass firewall </a:t>
            </a:r>
            <a:r>
              <a:rPr lang="en-US" dirty="0" smtClean="0"/>
              <a:t>rules and logging mechanism, and hide them selves as usual network traffic</a:t>
            </a:r>
          </a:p>
          <a:p>
            <a:pPr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</a:rPr>
              <a:t>Banner grabbing </a:t>
            </a:r>
            <a:r>
              <a:rPr lang="en-US" dirty="0" smtClean="0"/>
              <a:t>or OS finger printing is the method to determine the operating system running on a remote target system</a:t>
            </a:r>
          </a:p>
          <a:p>
            <a:pPr>
              <a:spcAft>
                <a:spcPts val="600"/>
              </a:spcAft>
            </a:pPr>
            <a:r>
              <a:rPr lang="en-US" dirty="0" smtClean="0"/>
              <a:t>Drawing target's </a:t>
            </a:r>
            <a:r>
              <a:rPr lang="en-US" dirty="0" smtClean="0">
                <a:solidFill>
                  <a:srgbClr val="FF0000"/>
                </a:solidFill>
              </a:rPr>
              <a:t>network diagram </a:t>
            </a:r>
            <a:r>
              <a:rPr lang="en-US" dirty="0" smtClean="0"/>
              <a:t>gives valuable in formation about the network and its architecture to an attacker</a:t>
            </a:r>
          </a:p>
          <a:p>
            <a:pPr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</a:rPr>
              <a:t>Proxy</a:t>
            </a:r>
            <a:r>
              <a:rPr lang="en-US" dirty="0" smtClean="0"/>
              <a:t> is a network computer that can serve as an intermediary for connecting with other computers</a:t>
            </a:r>
          </a:p>
          <a:p>
            <a:pPr>
              <a:spcAft>
                <a:spcPts val="600"/>
              </a:spcAft>
            </a:pPr>
            <a:r>
              <a:rPr lang="en-US" dirty="0" smtClean="0"/>
              <a:t>A chain of proxies can be created to evade a </a:t>
            </a:r>
            <a:r>
              <a:rPr lang="en-US" dirty="0" err="1" smtClean="0"/>
              <a:t>traceback</a:t>
            </a:r>
            <a:r>
              <a:rPr lang="en-US" dirty="0" smtClean="0"/>
              <a:t> to the attacker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404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714</Words>
  <Application>Microsoft Office PowerPoint</Application>
  <PresentationFormat>Widescreen</PresentationFormat>
  <Paragraphs>92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Office Theme</vt:lpstr>
      <vt:lpstr>Scanning Networks</vt:lpstr>
      <vt:lpstr>Contents </vt:lpstr>
      <vt:lpstr>Introduction</vt:lpstr>
      <vt:lpstr>Scanning  methodology</vt:lpstr>
      <vt:lpstr>Check for live systems – ICMP Scanning</vt:lpstr>
      <vt:lpstr>Check for open ports</vt:lpstr>
      <vt:lpstr>Check for open ports (cont.) – UDP Scanning</vt:lpstr>
      <vt:lpstr>Port Scanning Countermeasures</vt:lpstr>
      <vt:lpstr>Scanning beyond IDS</vt:lpstr>
      <vt:lpstr>Banner Grabbing</vt:lpstr>
      <vt:lpstr>Banner Grabbing Countermeasures</vt:lpstr>
      <vt:lpstr>Vulnerability Scanning</vt:lpstr>
      <vt:lpstr>Draw network diagrams</vt:lpstr>
      <vt:lpstr>Prepare proxies</vt:lpstr>
      <vt:lpstr>Scanning Pen Testing</vt:lpstr>
      <vt:lpstr>Scanning Pen Testing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Scanning Networks</dc:title>
  <dc:creator>CHINH</dc:creator>
  <cp:lastModifiedBy>HP</cp:lastModifiedBy>
  <cp:revision>22</cp:revision>
  <dcterms:created xsi:type="dcterms:W3CDTF">2020-10-22T00:11:21Z</dcterms:created>
  <dcterms:modified xsi:type="dcterms:W3CDTF">2023-08-29T00:21:59Z</dcterms:modified>
</cp:coreProperties>
</file>